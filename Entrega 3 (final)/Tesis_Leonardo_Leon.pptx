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70" r:id="rId4"/>
    <p:sldId id="271" r:id="rId5"/>
    <p:sldId id="274" r:id="rId6"/>
    <p:sldId id="277" r:id="rId7"/>
    <p:sldId id="276" r:id="rId8"/>
    <p:sldId id="275" r:id="rId9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9B8E11-DD23-4057-B2D3-14BA44F61F78}">
          <p14:sldIdLst>
            <p14:sldId id="256"/>
            <p14:sldId id="268"/>
            <p14:sldId id="270"/>
            <p14:sldId id="271"/>
            <p14:sldId id="274"/>
            <p14:sldId id="277"/>
            <p14:sldId id="276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712"/>
  </p:normalViewPr>
  <p:slideViewPr>
    <p:cSldViewPr>
      <p:cViewPr varScale="1">
        <p:scale>
          <a:sx n="237" d="100"/>
          <a:sy n="237" d="100"/>
        </p:scale>
        <p:origin x="261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6B59C-73D5-41B0-81DE-B32EDCC5ECE9}" type="datetimeFigureOut">
              <a:rPr lang="en-US" smtClean="0"/>
              <a:t>10/12/25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50ABD-8A7F-439E-8FDB-96C63850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4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B807-E478-1053-892A-A003A648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A1AE4-F850-20EE-165C-60FBBD1FC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E9225-8EBE-D716-CCF9-4A08B9A57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44506-38ED-9503-E70C-9BCE1AD9E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22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29AD-1684-3E8D-4243-7B26CCA7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ECFD0-6FD8-A27F-6053-DCDF9DB71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566D9-74A5-DD40-498E-D3F221B2A7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E829DB-8F32-56A3-9444-68960F2AE5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60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C059-E896-B112-3896-37ADB325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28A8E-9D7F-1F25-2BEA-A957AB640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6E309-821C-698D-93A1-31B261FED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427F5-2699-9606-B470-6C8C3C511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84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147B-3629-1B3C-3F7F-CCA2EE47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BBB2D-D1B2-54FF-A670-D914EC951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64997-AF67-0133-2869-DDC348480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50611-585E-70C7-5969-475D05296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22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CD21-EE3C-C857-4EDE-95CC624D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76F5C-EA90-B11F-F308-96E18DE57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87AE1-2A0A-4F24-C4A1-924AB2B25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67E79-A477-DF0F-0FBB-A3DEF3527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14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FBEC-96EF-957D-FF28-91EF0537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DD88E-580F-167C-E09D-EE785BDDD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DF3E7-2525-8D02-166B-0B5DD5D87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5E6DB-179A-8A7A-0959-B28D369A3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6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24277" y="324510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44660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22462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87762" y="323479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24593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593440" y="324749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04539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80740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0674" y="323479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84473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0674" y="327289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0607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6527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3877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3479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92" y="25355"/>
            <a:ext cx="899952" cy="293288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0" y="34744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5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887" y="912150"/>
            <a:ext cx="2800324" cy="507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6827" y="880070"/>
            <a:ext cx="4176445" cy="191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78744" y="3344944"/>
            <a:ext cx="16002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u20211d042@upc.edu.p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3934" y="663575"/>
            <a:ext cx="2800324" cy="1007007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0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LA INFLUENCIA DE LA FORMALIZACIÓN EN LA SUPERVIVENCIA DE LAS MYPES EN EL PERÚ EN 2022</a:t>
            </a:r>
            <a:b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</a:br>
            <a:r>
              <a:rPr lang="es-ES" sz="1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Trabajo de Investigación</a:t>
            </a:r>
            <a:endParaRPr lang="en-US" sz="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1594" y="1922336"/>
            <a:ext cx="1945005" cy="11084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03505" marR="94615" indent="-1270" algn="ctr">
              <a:lnSpc>
                <a:spcPct val="102600"/>
              </a:lnSpc>
              <a:spcBef>
                <a:spcPts val="55"/>
              </a:spcBef>
            </a:pPr>
            <a:r>
              <a:rPr lang="es-ES" sz="105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Leonardo Abel León Pérez</a:t>
            </a:r>
            <a:r>
              <a:rPr lang="en-US"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spc="-7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u20211d042@upc.edu.pe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endParaRPr lang="en-US" sz="1250" dirty="0">
              <a:latin typeface="Trebuchet MS"/>
              <a:cs typeface="Times New Roman" panose="02020603050405020304" pitchFamily="18" charset="0"/>
            </a:endParaRPr>
          </a:p>
          <a:p>
            <a:pPr algn="ctr">
              <a:spcBef>
                <a:spcPts val="40"/>
              </a:spcBef>
            </a:pP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Facultad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Economía Universidad Peruana de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Ciencias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Aplicadas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endParaRPr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lang="es-ES"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FF260-E481-2AC9-E983-F468C627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03D8B1-1342-9044-6136-070F0209B70D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9F46B56-F1D3-1AB3-6F3A-CF30AE5A3191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F4158CB-012D-FE9D-DCEC-24504BB9EF6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CF966C5-EE19-BB93-332F-BEEE74EC10F2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A1983C3-AF09-DC9C-2EBA-D3B433176EEB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48821-9EC7-EADE-A476-4C2894EDB795}"/>
              </a:ext>
            </a:extLst>
          </p:cNvPr>
          <p:cNvSpPr txBox="1"/>
          <p:nvPr/>
        </p:nvSpPr>
        <p:spPr>
          <a:xfrm>
            <a:off x="133350" y="7216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 | Estudios previos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245CD0-2D6A-6E7A-97AD-260B5F444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689982"/>
              </p:ext>
            </p:extLst>
          </p:nvPr>
        </p:nvGraphicFramePr>
        <p:xfrm>
          <a:off x="171450" y="581006"/>
          <a:ext cx="1676400" cy="250982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4446">
                  <a:extLst>
                    <a:ext uri="{9D8B030D-6E8A-4147-A177-3AD203B41FA5}">
                      <a16:colId xmlns:a16="http://schemas.microsoft.com/office/drawing/2014/main" val="2113563625"/>
                    </a:ext>
                  </a:extLst>
                </a:gridCol>
                <a:gridCol w="1271954">
                  <a:extLst>
                    <a:ext uri="{9D8B030D-6E8A-4147-A177-3AD203B41FA5}">
                      <a16:colId xmlns:a16="http://schemas.microsoft.com/office/drawing/2014/main" val="3361650843"/>
                    </a:ext>
                  </a:extLst>
                </a:gridCol>
              </a:tblGrid>
              <a:tr h="139069">
                <a:tc>
                  <a:txBody>
                    <a:bodyPr/>
                    <a:lstStyle/>
                    <a:p>
                      <a:pPr algn="ctr"/>
                      <a:r>
                        <a:rPr lang="es-ES" sz="3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Aspecto</a:t>
                      </a:r>
                      <a:endParaRPr lang="en-US" sz="3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  <a:endParaRPr lang="en-US" sz="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84007020"/>
                  </a:ext>
                </a:extLst>
              </a:tr>
              <a:tr h="772312">
                <a:tc>
                  <a:txBody>
                    <a:bodyPr/>
                    <a:lstStyle/>
                    <a:p>
                      <a:pPr algn="ctr"/>
                      <a:r>
                        <a:rPr lang="es-ES" sz="3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Justificación</a:t>
                      </a:r>
                      <a:endParaRPr lang="en-US" sz="3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Las MYPEs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representan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&gt;95% del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tejido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empresarial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peruano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enfrentan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alta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mortalidad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(8.28% trimestral, INEI 2025). La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formalización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mecanismo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requiere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análisis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urgente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post-COVID.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71994614"/>
                  </a:ext>
                </a:extLst>
              </a:tr>
              <a:tr h="493839">
                <a:tc>
                  <a:txBody>
                    <a:bodyPr/>
                    <a:lstStyle/>
                    <a:p>
                      <a:pPr marL="0" algn="ctr"/>
                      <a:r>
                        <a:rPr lang="es-ES" sz="3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Problema</a:t>
                      </a:r>
                      <a:endParaRPr lang="en-US" sz="3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¿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Cómo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influye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4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formalización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las MYPEs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Perú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2022, y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cómo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varían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estos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efectos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según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región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geográfica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74674419"/>
                  </a:ext>
                </a:extLst>
              </a:tr>
              <a:tr h="510210">
                <a:tc>
                  <a:txBody>
                    <a:bodyPr/>
                    <a:lstStyle/>
                    <a:p>
                      <a:pPr marL="0" algn="ctr"/>
                      <a:r>
                        <a:rPr lang="es-ES" sz="3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Objetivo general</a:t>
                      </a:r>
                      <a:endParaRPr lang="en-US" sz="3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</a:pP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Analizar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influencia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 </a:t>
                      </a:r>
                      <a:r>
                        <a:rPr lang="en-US" sz="4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formalización</a:t>
                      </a:r>
                      <a:r>
                        <a:rPr lang="en-US" sz="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(RUC)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las MYPEs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Perú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2022.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2907747"/>
                  </a:ext>
                </a:extLst>
              </a:tr>
              <a:tr h="594399">
                <a:tc>
                  <a:txBody>
                    <a:bodyPr/>
                    <a:lstStyle/>
                    <a:p>
                      <a:pPr marL="0" algn="ctr"/>
                      <a:r>
                        <a:rPr lang="es-ES" sz="3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Hipótesis</a:t>
                      </a:r>
                      <a:endParaRPr lang="en-US" sz="3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ts val="375"/>
                        </a:spcBef>
                        <a:spcAft>
                          <a:spcPts val="375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Las MYPEs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formales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tienen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mayor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probabilidad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con </a:t>
                      </a:r>
                      <a:r>
                        <a:rPr lang="en-US" sz="4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efectos</a:t>
                      </a:r>
                      <a:r>
                        <a:rPr lang="en-US" sz="4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heterogéneos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más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pronunciados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Costa que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Sierra y Selva.</a:t>
                      </a:r>
                      <a:endParaRPr lang="es-ES" sz="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4084357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B1E895-68DC-455C-C5F3-69D2FDAEE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516655"/>
              </p:ext>
            </p:extLst>
          </p:nvPr>
        </p:nvGraphicFramePr>
        <p:xfrm>
          <a:off x="2076450" y="581006"/>
          <a:ext cx="2365144" cy="250982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445430156"/>
                    </a:ext>
                  </a:extLst>
                </a:gridCol>
                <a:gridCol w="928089">
                  <a:extLst>
                    <a:ext uri="{9D8B030D-6E8A-4147-A177-3AD203B41FA5}">
                      <a16:colId xmlns:a16="http://schemas.microsoft.com/office/drawing/2014/main" val="621554607"/>
                    </a:ext>
                  </a:extLst>
                </a:gridCol>
                <a:gridCol w="1056055">
                  <a:extLst>
                    <a:ext uri="{9D8B030D-6E8A-4147-A177-3AD203B41FA5}">
                      <a16:colId xmlns:a16="http://schemas.microsoft.com/office/drawing/2014/main" val="3089142856"/>
                    </a:ext>
                  </a:extLst>
                </a:gridCol>
              </a:tblGrid>
              <a:tr h="160908">
                <a:tc>
                  <a:txBody>
                    <a:bodyPr/>
                    <a:lstStyle/>
                    <a:p>
                      <a:pPr marL="0" algn="ctr"/>
                      <a:r>
                        <a:rPr lang="en-US" sz="3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Aspecto</a:t>
                      </a:r>
                      <a:endParaRPr lang="en-US" sz="3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Estudios a Favor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3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Estudios en Contra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508093"/>
                  </a:ext>
                </a:extLst>
              </a:tr>
              <a:tr h="657857">
                <a:tc>
                  <a:txBody>
                    <a:bodyPr/>
                    <a:lstStyle/>
                    <a:p>
                      <a:pPr marL="0" algn="ctr"/>
                      <a:r>
                        <a:rPr lang="en-US" sz="3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Formalización</a:t>
                      </a:r>
                      <a:endParaRPr lang="en-US" sz="3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Chacaltana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(2016): Brecha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productividad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8x entre formal/informal.</a:t>
                      </a:r>
                    </a:p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Yamada (2009):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Formalidad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reduce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cierre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15%.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Díaz et al. (2018): 20% MYPEs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desformalizan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anualmente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especialmente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jóvenes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(&lt;4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años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).</a:t>
                      </a:r>
                    </a:p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Carrión-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Cauja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(2021):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Impuestos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afectan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negativamente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57605599"/>
                  </a:ext>
                </a:extLst>
              </a:tr>
              <a:tr h="657857">
                <a:tc>
                  <a:txBody>
                    <a:bodyPr/>
                    <a:lstStyle/>
                    <a:p>
                      <a:pPr algn="ctr"/>
                      <a:r>
                        <a:rPr lang="en-US" sz="3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Ubicación</a:t>
                      </a:r>
                      <a:r>
                        <a:rPr lang="en-US" sz="3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3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Geográfica</a:t>
                      </a:r>
                      <a:endParaRPr lang="en-US" sz="3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Liedholm (2002):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Empresas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urbanas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(Costa) 25%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más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Falck (2007):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Densidad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poblacional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incrementa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Parra (2011): Alta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densidad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eleva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cierre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1.4-1.7%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competencia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Tonetto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et al. (2024):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Metropolitanas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62% vs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primarias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68-69%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11762058"/>
                  </a:ext>
                </a:extLst>
              </a:tr>
              <a:tr h="566572">
                <a:tc>
                  <a:txBody>
                    <a:bodyPr/>
                    <a:lstStyle/>
                    <a:p>
                      <a:pPr algn="ctr"/>
                      <a:r>
                        <a:rPr lang="en-US" sz="3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Diferencias Regionales</a:t>
                      </a: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Bruce et al. (2007): Spillovers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regionales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0.5%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hacia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vecinas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Craioveanu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&amp; Terrell (2016):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Dependencia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espacial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significativa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post-crisis.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Distribución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desigual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66.5% Costa, 26.2% Sierra, 7.4% Selva.</a:t>
                      </a:r>
                    </a:p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Disparidades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digitales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Lima 59% vs rural 9% internet.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78375002"/>
                  </a:ext>
                </a:extLst>
              </a:tr>
              <a:tr h="466635">
                <a:tc>
                  <a:txBody>
                    <a:bodyPr/>
                    <a:lstStyle/>
                    <a:p>
                      <a:pPr algn="ctr"/>
                      <a:r>
                        <a:rPr lang="en-US" sz="3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Paper Base</a:t>
                      </a: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marL="90488" indent="-90488" algn="just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Parra (2011):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Aplica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Jovanovic (1982)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Bogotá,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demostrando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que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empresas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descubren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eficiencia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operativa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gradualmente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Formalidad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tamaño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ubicación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modulan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mediante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reducción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costos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transacción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y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mejor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acceso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a </a:t>
                      </a:r>
                      <a:r>
                        <a:rPr lang="en-US" sz="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recursos</a:t>
                      </a:r>
                      <a:r>
                        <a:rPr lang="en-US" sz="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438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134468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723D-8769-6827-2BF3-EEB466B3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99276F-06DB-CD0D-B815-ED045E6C178A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0F65100-AF20-0C00-4586-95F0636261B4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CCC5FD5-F1A6-A0D9-7D7B-78D243B2EDC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8F86C1-150C-09E3-6BA3-C4D99D0E3C91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CC82DA7-4103-CB3D-1AF4-655731604C1C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39FEB-010D-5BD7-E1E6-C6B8F15A3980}"/>
              </a:ext>
            </a:extLst>
          </p:cNvPr>
          <p:cNvSpPr txBox="1"/>
          <p:nvPr/>
        </p:nvSpPr>
        <p:spPr>
          <a:xfrm>
            <a:off x="95250" y="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Hechos Estilizados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42101D-14C1-6BFE-6DA1-1FA76F724994}"/>
              </a:ext>
            </a:extLst>
          </p:cNvPr>
          <p:cNvSpPr txBox="1"/>
          <p:nvPr/>
        </p:nvSpPr>
        <p:spPr>
          <a:xfrm>
            <a:off x="323850" y="633453"/>
            <a:ext cx="1676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Figura 1</a:t>
            </a:r>
          </a:p>
        </p:txBody>
      </p:sp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711195F-0A5B-0326-BDBB-319C51D785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4"/>
          <a:stretch>
            <a:fillRect/>
          </a:stretch>
        </p:blipFill>
        <p:spPr>
          <a:xfrm>
            <a:off x="145701" y="879353"/>
            <a:ext cx="2203641" cy="1307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546BAE-2F81-7EC8-FDF9-9E622A75B0C7}"/>
              </a:ext>
            </a:extLst>
          </p:cNvPr>
          <p:cNvSpPr txBox="1"/>
          <p:nvPr/>
        </p:nvSpPr>
        <p:spPr>
          <a:xfrm>
            <a:off x="400050" y="2208302"/>
            <a:ext cx="16850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PE" sz="400" b="0" dirty="0"/>
              <a:t>Fuente: El estrato empresarial es determinado de acuerdo con la ley N° 30056. Sunat, Registro Único del Contribuyente 2013-2017 - PRODUCE-OEE. Elaboración Propia</a:t>
            </a:r>
            <a:r>
              <a:rPr lang="es-ES" sz="400" b="0" dirty="0"/>
              <a:t>.</a:t>
            </a:r>
            <a:endParaRPr lang="es-PE" sz="400" b="0" dirty="0"/>
          </a:p>
        </p:txBody>
      </p:sp>
      <p:pic>
        <p:nvPicPr>
          <p:cNvPr id="9" name="Imagen 2">
            <a:extLst>
              <a:ext uri="{FF2B5EF4-FFF2-40B4-BE49-F238E27FC236}">
                <a16:creationId xmlns:a16="http://schemas.microsoft.com/office/drawing/2014/main" id="{A115A609-1240-30B6-BD0E-47EDDD3014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1" t="7787" r="5022" b="9218"/>
          <a:stretch>
            <a:fillRect/>
          </a:stretch>
        </p:blipFill>
        <p:spPr bwMode="auto">
          <a:xfrm>
            <a:off x="2305050" y="1361494"/>
            <a:ext cx="2208390" cy="1480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EAFD71-7BDD-D27D-7C97-47D94814FA39}"/>
              </a:ext>
            </a:extLst>
          </p:cNvPr>
          <p:cNvSpPr txBox="1"/>
          <p:nvPr/>
        </p:nvSpPr>
        <p:spPr>
          <a:xfrm>
            <a:off x="2532021" y="1005068"/>
            <a:ext cx="1676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Figura </a:t>
            </a:r>
            <a:r>
              <a:rPr lang="es-E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s-ES" sz="9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084775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7F2A5-5280-0B14-BE65-72E14E663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B44E13-35BA-5438-53A7-5B322E03098D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5D58FC5-9576-CF1F-9F7E-5DDD15F07C2D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FE87A68-E5AF-F491-06C1-BECEEF83692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93962F5-0966-A072-04BA-75072D010239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4BC2D177-0894-A10C-29EC-335C4E3B8F3F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2EDB44-2A11-ACA5-86DA-EDB312730F10}"/>
              </a:ext>
            </a:extLst>
          </p:cNvPr>
          <p:cNvSpPr txBox="1"/>
          <p:nvPr/>
        </p:nvSpPr>
        <p:spPr>
          <a:xfrm>
            <a:off x="95250" y="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Hechos Estilizados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911C09-E01D-90B8-630F-A1D8D3804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209784"/>
              </p:ext>
            </p:extLst>
          </p:nvPr>
        </p:nvGraphicFramePr>
        <p:xfrm>
          <a:off x="469741" y="626146"/>
          <a:ext cx="3670618" cy="2507188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44709">
                  <a:extLst>
                    <a:ext uri="{9D8B030D-6E8A-4147-A177-3AD203B41FA5}">
                      <a16:colId xmlns:a16="http://schemas.microsoft.com/office/drawing/2014/main" val="1445430156"/>
                    </a:ext>
                  </a:extLst>
                </a:gridCol>
                <a:gridCol w="2825909">
                  <a:extLst>
                    <a:ext uri="{9D8B030D-6E8A-4147-A177-3AD203B41FA5}">
                      <a16:colId xmlns:a16="http://schemas.microsoft.com/office/drawing/2014/main" val="621554607"/>
                    </a:ext>
                  </a:extLst>
                </a:gridCol>
              </a:tblGrid>
              <a:tr h="201720">
                <a:tc>
                  <a:txBody>
                    <a:bodyPr/>
                    <a:lstStyle/>
                    <a:p>
                      <a:pPr marL="0" algn="ctr"/>
                      <a:r>
                        <a:rPr lang="en-US" sz="6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Aspecto</a:t>
                      </a:r>
                      <a:endParaRPr lang="en-US" sz="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s-ES" sz="6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sz="600" b="1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escripción</a:t>
                      </a:r>
                      <a:endParaRPr lang="en-US" sz="600" b="1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2508093"/>
                  </a:ext>
                </a:extLst>
              </a:tr>
              <a:tr h="371194">
                <a:tc>
                  <a:txBody>
                    <a:bodyPr/>
                    <a:lstStyle/>
                    <a:p>
                      <a:pPr marL="0" algn="ctr"/>
                      <a:r>
                        <a:rPr lang="en-US" sz="5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Fuente de Datos</a:t>
                      </a: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 Censo Nacional Económico 2022 (INEI) - 1,377,931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observaciones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MYPEs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57605599"/>
                  </a:ext>
                </a:extLst>
              </a:tr>
              <a:tr h="225443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Variable </a:t>
                      </a:r>
                      <a:r>
                        <a:rPr lang="en-US" sz="5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Dependiente</a:t>
                      </a:r>
                      <a:endParaRPr lang="en-US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empresarial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binaria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1=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operativa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2021, 0=no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operativa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511762058"/>
                  </a:ext>
                </a:extLst>
              </a:tr>
              <a:tr h="225443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Variables </a:t>
                      </a:r>
                      <a:r>
                        <a:rPr lang="en-US" sz="5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Independientes</a:t>
                      </a:r>
                      <a:endParaRPr lang="en-US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Formalización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Tenencia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RUC (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binaria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: 1=con RUC, 0=sin RUC)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78375002"/>
                  </a:ext>
                </a:extLst>
              </a:tr>
              <a:tr h="516946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Controles</a:t>
                      </a:r>
                      <a:endParaRPr lang="en-US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Región</a:t>
                      </a:r>
                      <a:r>
                        <a:rPr lang="es-ES" sz="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sector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600" b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Sexo </a:t>
                      </a:r>
                      <a:r>
                        <a:rPr lang="es-E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gerente, tipo local, régimen, digitalización</a:t>
                      </a:r>
                    </a:p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Ventas, productividad, tributos, salarios</a:t>
                      </a:r>
                      <a:endParaRPr lang="en-US" sz="6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901438557"/>
                  </a:ext>
                </a:extLst>
              </a:tr>
              <a:tr h="225443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Modelo</a:t>
                      </a:r>
                      <a:endParaRPr lang="en-US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50000"/>
                        </a:lnSpc>
                      </a:pP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Regresión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logística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con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términos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interacción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(RUC*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Región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21799909"/>
                  </a:ext>
                </a:extLst>
              </a:tr>
              <a:tr h="361301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Marco </a:t>
                      </a:r>
                      <a:r>
                        <a:rPr lang="en-US" sz="5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Teórico</a:t>
                      </a:r>
                      <a:endParaRPr lang="en-US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50000"/>
                        </a:lnSpc>
                      </a:pP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Jovanovic (1982)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adaptado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por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Parra (2011)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776512535"/>
                  </a:ext>
                </a:extLst>
              </a:tr>
              <a:tr h="361301">
                <a:tc>
                  <a:txBody>
                    <a:bodyPr/>
                    <a:lstStyle/>
                    <a:p>
                      <a:pPr algn="ctr"/>
                      <a:r>
                        <a:rPr lang="en-US" sz="5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Aporte</a:t>
                      </a:r>
                      <a:r>
                        <a:rPr lang="en-US" sz="5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5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Metodológico</a:t>
                      </a:r>
                      <a:endParaRPr lang="en-US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>
                        <a:lnSpc>
                          <a:spcPct val="150000"/>
                        </a:lnSpc>
                      </a:pP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Efectos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heterogéneos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6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regionales</a:t>
                      </a:r>
                      <a:r>
                        <a:rPr lang="en-US" sz="6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+ Digital Score post-COVID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816681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58183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87783-8AFE-A657-B21F-D3B07F3C1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28AFF3-A82D-35A4-1E84-E56CA744BAED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281D785-2644-A893-0541-C7687F604A80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1D126B2-827F-F4D3-4139-C8CD39E9E5D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15A04D4-E1AE-47B0-B805-47A6DF1CFB1B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061AA4C-C1FA-0416-2D7C-53A3138EB260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E2D421-8C9E-C40A-89DC-6F7ECB47D550}"/>
              </a:ext>
            </a:extLst>
          </p:cNvPr>
          <p:cNvSpPr txBox="1"/>
          <p:nvPr/>
        </p:nvSpPr>
        <p:spPr>
          <a:xfrm>
            <a:off x="95250" y="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Econométricos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1">
            <a:extLst>
              <a:ext uri="{FF2B5EF4-FFF2-40B4-BE49-F238E27FC236}">
                <a16:creationId xmlns:a16="http://schemas.microsoft.com/office/drawing/2014/main" id="{EB81ECCF-E390-0538-D6EA-E3571CC9D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535" y="815975"/>
            <a:ext cx="2425124" cy="24079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1D6E7F-541D-5C38-04AB-3E26B6EC46B0}"/>
              </a:ext>
            </a:extLst>
          </p:cNvPr>
          <p:cNvSpPr txBox="1"/>
          <p:nvPr/>
        </p:nvSpPr>
        <p:spPr>
          <a:xfrm>
            <a:off x="1595409" y="475287"/>
            <a:ext cx="14173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1: </a:t>
            </a:r>
            <a:r>
              <a:rPr lang="es-PE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Ratios</a:t>
            </a:r>
            <a:endParaRPr lang="es-PE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981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65ACA-8700-8171-3509-3B21145F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10AF6C-36D1-D4FB-9567-C107166CC044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24B369F-FF23-031B-B676-263C72FD48DE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B7D5CE2-8A18-05BA-5A72-44B9B92860D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E2632E6-6A50-C749-CA0A-757383F4421C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B7E6319-DE57-3E5F-7938-D6F61AD06B37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6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10146-C57D-6AE2-66EB-2847088CCE43}"/>
              </a:ext>
            </a:extLst>
          </p:cNvPr>
          <p:cNvSpPr txBox="1"/>
          <p:nvPr/>
        </p:nvSpPr>
        <p:spPr>
          <a:xfrm>
            <a:off x="95250" y="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Econométricos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714C23-40B3-06A0-E0F2-FF8BE2809675}"/>
              </a:ext>
            </a:extLst>
          </p:cNvPr>
          <p:cNvSpPr txBox="1"/>
          <p:nvPr/>
        </p:nvSpPr>
        <p:spPr>
          <a:xfrm>
            <a:off x="442010" y="569570"/>
            <a:ext cx="94448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2: </a:t>
            </a:r>
            <a:r>
              <a:rPr lang="es-PE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VIF</a:t>
            </a:r>
            <a:endParaRPr lang="es-PE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n 1">
            <a:extLst>
              <a:ext uri="{FF2B5EF4-FFF2-40B4-BE49-F238E27FC236}">
                <a16:creationId xmlns:a16="http://schemas.microsoft.com/office/drawing/2014/main" id="{37F04C84-76BE-65B8-DFF6-DB2C781373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33" y="868951"/>
            <a:ext cx="1566204" cy="240794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7963343-8FE5-82BD-3AD4-716E93B870F4}"/>
              </a:ext>
            </a:extLst>
          </p:cNvPr>
          <p:cNvSpPr txBox="1"/>
          <p:nvPr/>
        </p:nvSpPr>
        <p:spPr>
          <a:xfrm>
            <a:off x="2333187" y="1031212"/>
            <a:ext cx="18875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3: </a:t>
            </a:r>
            <a:r>
              <a:rPr lang="es-PE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Efectos marginales de formalización por región</a:t>
            </a:r>
            <a:endParaRPr lang="es-PE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n 1">
            <a:extLst>
              <a:ext uri="{FF2B5EF4-FFF2-40B4-BE49-F238E27FC236}">
                <a16:creationId xmlns:a16="http://schemas.microsoft.com/office/drawing/2014/main" id="{D6BB44DE-AAF8-646C-DF64-708476A697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505" y="1554639"/>
            <a:ext cx="2472935" cy="125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3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8C268-467A-598C-24B3-EA282353C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56A261-4556-CDD4-2A0B-3BB9C0A59872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A3D437B-DB67-B673-FDDC-CECD157F1973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EFA863-37B2-A3BA-F0D3-E3ACA39AEA0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42353CC-D575-EC0F-3972-F939BE206509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B70B8F0-AAB1-0372-DC0C-E5472575E4A5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9BD0DB-A2DB-A505-681D-87BF55365C6F}"/>
              </a:ext>
            </a:extLst>
          </p:cNvPr>
          <p:cNvSpPr txBox="1"/>
          <p:nvPr/>
        </p:nvSpPr>
        <p:spPr>
          <a:xfrm>
            <a:off x="95250" y="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Conclusiones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66A9A37-655D-F164-E574-C6CB0409F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609879"/>
            <a:ext cx="4038600" cy="2560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E" altLang="en-PE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Efecto heterogéneo de la formalización</a:t>
            </a:r>
            <a:r>
              <a:rPr kumimoji="0" lang="en-PE" altLang="en-PE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Tener RUC reduce la supervivencia en Costa y Selva (-5%), pero muestra efecto neutral en Sierra, rechazando la hipótesis de beneficios uniformes.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E" altLang="en-PE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Contexto post-COVID crítico</a:t>
            </a:r>
            <a:r>
              <a:rPr kumimoji="0" lang="en-PE" altLang="en-PE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Los costos inmediatos de cumplimiento superan beneficios de mediano plazo cuando solo 6.68% de MYPEs accede a financiamiento formal.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E" altLang="en-PE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Informalidad estructural persistente</a:t>
            </a:r>
            <a:r>
              <a:rPr kumimoji="0" lang="en-PE" altLang="en-PE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80-85% de MYPEs permanecen informales (2013-2021), mientras su contribución al PBI cayó de 29% a 19%, evidenciando barreras sistémicas.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E" altLang="en-PE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Políticas diferenciadas necesarias</a:t>
            </a:r>
            <a:r>
              <a:rPr kumimoji="0" lang="en-PE" altLang="en-PE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Estrategias homogéneas resultan inefectivas; se requieren programas regionales que reduzcan costos administrativos y faciliten acceso real a beneficios.</a:t>
            </a:r>
          </a:p>
        </p:txBody>
      </p:sp>
    </p:spTree>
    <p:extLst>
      <p:ext uri="{BB962C8B-B14F-4D97-AF65-F5344CB8AC3E}">
        <p14:creationId xmlns:p14="http://schemas.microsoft.com/office/powerpoint/2010/main" val="1870252163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B49E0-E635-711F-84E5-FFADBEBD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D73819-7742-D7B2-01E0-8A28999E192B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39BB699-19A6-0580-4B82-E32BFD17BC25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4F9C04F-BD71-B6C4-996A-64BA9F5965B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106831E-0E00-83F1-0C46-D59CDAEB3927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58557C8-3836-4F62-085E-00448D2A19C8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8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7F0FC-3B40-49B4-79C2-1BC904C4B39D}"/>
              </a:ext>
            </a:extLst>
          </p:cNvPr>
          <p:cNvSpPr txBox="1"/>
          <p:nvPr/>
        </p:nvSpPr>
        <p:spPr>
          <a:xfrm>
            <a:off x="1275397" y="1282212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Muchas Gracias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raphic 9" descr="Bar graph with upward trend with solid fill">
            <a:extLst>
              <a:ext uri="{FF2B5EF4-FFF2-40B4-BE49-F238E27FC236}">
                <a16:creationId xmlns:a16="http://schemas.microsoft.com/office/drawing/2014/main" id="{32C2C804-A150-6DF0-3D4F-B518AFD7B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9773" y="1565830"/>
            <a:ext cx="610553" cy="61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16043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870</TotalTime>
  <Words>824</Words>
  <Application>Microsoft Macintosh PowerPoint</Application>
  <PresentationFormat>Custom</PresentationFormat>
  <Paragraphs>109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Tahoma</vt:lpstr>
      <vt:lpstr>Times New Roman</vt:lpstr>
      <vt:lpstr>Trebuchet MS</vt:lpstr>
      <vt:lpstr>Office Theme</vt:lpstr>
      <vt:lpstr>ANÁLISIS DE LA INFLUENCIA DE LA FORMALIZACIÓN EN LA SUPERVIVENCIA DE LAS MYPES EN EL PERÚ EN 2022 Trabajo de Investigación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Completo de la Presentación - Colocar el Subtitulo</dc:title>
  <dc:creator>Nombre Apellido1 Apellido2, correo-electronico@upc.edu.pe</dc:creator>
  <cp:lastModifiedBy>u20211d042 (Leon Perez, Leonardo Abel)</cp:lastModifiedBy>
  <cp:revision>11</cp:revision>
  <dcterms:created xsi:type="dcterms:W3CDTF">2024-04-01T15:20:09Z</dcterms:created>
  <dcterms:modified xsi:type="dcterms:W3CDTF">2025-10-13T04:35:18Z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2024-04-01T00:00:00Z</vt:filetime>
  </property>
</Properties>
</file>
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70" r:id="rId4"/>
    <p:sldId id="274" r:id="rId5"/>
    <p:sldId id="278" r:id="rId6"/>
    <p:sldId id="277" r:id="rId7"/>
    <p:sldId id="276" r:id="rId8"/>
    <p:sldId id="275" r:id="rId9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9B8E11-DD23-4057-B2D3-14BA44F61F78}">
          <p14:sldIdLst>
            <p14:sldId id="256"/>
            <p14:sldId id="268"/>
            <p14:sldId id="270"/>
            <p14:sldId id="274"/>
            <p14:sldId id="278"/>
            <p14:sldId id="277"/>
            <p14:sldId id="276"/>
            <p14:sldId id="2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712"/>
  </p:normalViewPr>
  <p:slideViewPr>
    <p:cSldViewPr>
      <p:cViewPr varScale="1">
        <p:scale>
          <a:sx n="237" d="100"/>
          <a:sy n="237" d="100"/>
        </p:scale>
        <p:origin x="2616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6B59C-73D5-41B0-81DE-B32EDCC5ECE9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50ABD-8A7F-439E-8FDB-96C638500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44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4B807-E478-1053-892A-A003A648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3A1AE4-F850-20EE-165C-60FBBD1FC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E9225-8EBE-D716-CCF9-4A08B9A572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444506-38ED-9503-E70C-9BCE1AD9E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22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DC059-E896-B112-3896-37ADB3258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28A8E-9D7F-1F25-2BEA-A957AB6403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A6E309-821C-698D-93A1-31B261FED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427F5-2699-9606-B470-6C8C3C511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984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3E0A7-0507-7E85-56BA-006A89AC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ACA247-54A0-34AD-4582-97080C28F6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16057-5694-7DA2-73A8-DCD26AA790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86C2CC-E7E9-44CF-F641-CDA0AA07F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300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2147B-3629-1B3C-3F7F-CCA2EE472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BBB2D-D1B2-54FF-A670-D914EC9515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F64997-AF67-0133-2869-DDC348480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50611-585E-70C7-5969-475D052962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9221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CD21-EE3C-C857-4EDE-95CC624D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76F5C-EA90-B11F-F308-96E18DE57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87AE1-2A0A-4F24-C4A1-924AB2B25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67E79-A477-DF0F-0FBB-A3DEF35276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141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0FBEC-96EF-957D-FF28-91EF0537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DD88E-580F-167C-E09D-EE785BDDD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DF3E7-2525-8D02-166B-0B5DD5D87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E5E6DB-179A-8A7A-0959-B28D369A3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50ABD-8A7F-439E-8FDB-96C63850074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6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24277" y="3245103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44660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22462" y="3241141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287762" y="3234791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24593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593440" y="3247491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04539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80740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60674" y="3234791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784473" y="3241141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CCCC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60674" y="3272891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0607" y="3234791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65271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38776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34791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9999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599992" y="25355"/>
            <a:ext cx="899952" cy="293288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0" y="34744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5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4887" y="912150"/>
            <a:ext cx="2800324" cy="507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FF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6827" y="880070"/>
            <a:ext cx="4176445" cy="191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85"/>
              </a:lnSpc>
            </a:pPr>
            <a:r>
              <a:rPr spc="25" dirty="0"/>
              <a:t>N,</a:t>
            </a:r>
            <a:r>
              <a:rPr spc="30" dirty="0"/>
              <a:t> </a:t>
            </a:r>
            <a:r>
              <a:rPr spc="-20" dirty="0"/>
              <a:t>Apellido1</a:t>
            </a:r>
            <a:r>
              <a:rPr spc="30" dirty="0"/>
              <a:t> </a:t>
            </a:r>
            <a:r>
              <a:rPr spc="-30" dirty="0"/>
              <a:t>(An˜o)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12/8/25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78744" y="3344944"/>
            <a:ext cx="160020" cy="1041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685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u20211d042@upc.edu.pe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3934" y="769501"/>
            <a:ext cx="2800324" cy="1003288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¿La formalidad garantiza supervivencia empresarial? Análisis de las </a:t>
            </a:r>
            <a:r>
              <a:rPr lang="es-E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MYPEs</a:t>
            </a:r>
            <a:r>
              <a:rPr lang="es-E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el Perú en 2022.</a:t>
            </a:r>
            <a:endParaRPr lang="en-US" sz="800" kern="1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31594" y="1922336"/>
            <a:ext cx="1945005" cy="110844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03505" marR="94615" indent="-1270" algn="ctr">
              <a:lnSpc>
                <a:spcPct val="102600"/>
              </a:lnSpc>
              <a:spcBef>
                <a:spcPts val="55"/>
              </a:spcBef>
            </a:pPr>
            <a:r>
              <a:rPr lang="es-ES" sz="105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Leonardo Abel León Pérez</a:t>
            </a:r>
            <a:r>
              <a:rPr lang="en-US" sz="11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spc="-7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u20211d042@upc.edu.pe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endParaRPr lang="en-US" sz="1250" dirty="0">
              <a:latin typeface="Trebuchet MS"/>
              <a:cs typeface="Times New Roman" panose="02020603050405020304" pitchFamily="18" charset="0"/>
            </a:endParaRPr>
          </a:p>
          <a:p>
            <a:pPr algn="ctr">
              <a:spcBef>
                <a:spcPts val="40"/>
              </a:spcBef>
            </a:pP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Facultad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Economía Universidad Peruana de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Ciencias</a:t>
            </a:r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Aplicadas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endParaRPr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" algn="ctr">
              <a:lnSpc>
                <a:spcPct val="100000"/>
              </a:lnSpc>
              <a:spcBef>
                <a:spcPts val="5"/>
              </a:spcBef>
            </a:pPr>
            <a:r>
              <a:rPr lang="es-ES" sz="11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fld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FF260-E481-2AC9-E983-F468C6277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03D8B1-1342-9044-6136-070F0209B70D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89F46B56-F1D3-1AB3-6F3A-CF30AE5A3191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F4158CB-012D-FE9D-DCEC-24504BB9EF6F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CF966C5-EE19-BB93-332F-BEEE74EC10F2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A1983C3-AF09-DC9C-2EBA-D3B433176EEB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548821-9EC7-EADE-A476-4C2894EDB795}"/>
              </a:ext>
            </a:extLst>
          </p:cNvPr>
          <p:cNvSpPr txBox="1"/>
          <p:nvPr/>
        </p:nvSpPr>
        <p:spPr>
          <a:xfrm>
            <a:off x="133350" y="7216"/>
            <a:ext cx="350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Introducción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245CD0-2D6A-6E7A-97AD-260B5F444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1211562"/>
              </p:ext>
            </p:extLst>
          </p:nvPr>
        </p:nvGraphicFramePr>
        <p:xfrm>
          <a:off x="171450" y="581006"/>
          <a:ext cx="4267200" cy="2568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029499">
                  <a:extLst>
                    <a:ext uri="{9D8B030D-6E8A-4147-A177-3AD203B41FA5}">
                      <a16:colId xmlns:a16="http://schemas.microsoft.com/office/drawing/2014/main" val="2113563625"/>
                    </a:ext>
                  </a:extLst>
                </a:gridCol>
                <a:gridCol w="3237701">
                  <a:extLst>
                    <a:ext uri="{9D8B030D-6E8A-4147-A177-3AD203B41FA5}">
                      <a16:colId xmlns:a16="http://schemas.microsoft.com/office/drawing/2014/main" val="3361650843"/>
                    </a:ext>
                  </a:extLst>
                </a:gridCol>
              </a:tblGrid>
              <a:tr h="139069">
                <a:tc>
                  <a:txBody>
                    <a:bodyPr/>
                    <a:lstStyle/>
                    <a:p>
                      <a:pPr algn="ctr"/>
                      <a:r>
                        <a:rPr lang="es-ES" sz="70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Aspecto</a:t>
                      </a:r>
                      <a:endParaRPr lang="en-US" sz="700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Descripción</a:t>
                      </a:r>
                      <a:endParaRPr lang="en-US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84007020"/>
                  </a:ext>
                </a:extLst>
              </a:tr>
              <a:tr h="772312">
                <a:tc>
                  <a:txBody>
                    <a:bodyPr/>
                    <a:lstStyle/>
                    <a:p>
                      <a:pPr algn="ctr"/>
                      <a:r>
                        <a:rPr lang="es-ES" sz="7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Justificación</a:t>
                      </a:r>
                      <a:endParaRPr lang="en-US" sz="7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Las MYPEs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representan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&gt;95% del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tejido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empresarial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peruano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pero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enfrentan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alta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mortalidad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(8.28% trimestral, INEI 2025). La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formalización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como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mecanismo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requiere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análisis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urgente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post-COVID.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871994614"/>
                  </a:ext>
                </a:extLst>
              </a:tr>
              <a:tr h="493839">
                <a:tc>
                  <a:txBody>
                    <a:bodyPr/>
                    <a:lstStyle/>
                    <a:p>
                      <a:pPr marL="0" algn="ctr"/>
                      <a:r>
                        <a:rPr lang="es-ES" sz="7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Problema</a:t>
                      </a:r>
                      <a:endParaRPr lang="en-US" sz="7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¿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Cómo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influye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formalización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las MYPEs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Perú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2022, y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cómo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varían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estos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efectos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según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región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geográfica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74674419"/>
                  </a:ext>
                </a:extLst>
              </a:tr>
              <a:tr h="510210">
                <a:tc>
                  <a:txBody>
                    <a:bodyPr/>
                    <a:lstStyle/>
                    <a:p>
                      <a:pPr marL="0" algn="ctr"/>
                      <a:r>
                        <a:rPr lang="es-ES" sz="7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Objetivo general</a:t>
                      </a:r>
                      <a:endParaRPr lang="en-US" sz="7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algn="l">
                        <a:lnSpc>
                          <a:spcPct val="150000"/>
                        </a:lnSpc>
                      </a:pP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Analizar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influencia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 </a:t>
                      </a:r>
                      <a:r>
                        <a:rPr lang="en-US" sz="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formalización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(RUC)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las MYPEs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Perú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2022.</a:t>
                      </a:r>
                    </a:p>
                  </a:txBody>
                  <a:tcPr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52907747"/>
                  </a:ext>
                </a:extLst>
              </a:tr>
              <a:tr h="594399">
                <a:tc>
                  <a:txBody>
                    <a:bodyPr/>
                    <a:lstStyle/>
                    <a:p>
                      <a:pPr marL="0" algn="ctr"/>
                      <a:r>
                        <a:rPr lang="es-ES" sz="7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Hipótesis</a:t>
                      </a:r>
                      <a:endParaRPr lang="en-US" sz="7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50000"/>
                        </a:lnSpc>
                        <a:spcBef>
                          <a:spcPts val="375"/>
                        </a:spcBef>
                        <a:spcAft>
                          <a:spcPts val="375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Las MYPEs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formales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tienen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mayor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probabilidad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supervivencia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con </a:t>
                      </a:r>
                      <a:r>
                        <a:rPr lang="en-US" sz="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efectos</a:t>
                      </a: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heterogéneos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más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pronunciados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la Costa que </a:t>
                      </a:r>
                      <a:r>
                        <a:rPr lang="en-US" sz="800" b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en</a:t>
                      </a:r>
                      <a:r>
                        <a:rPr lang="en-US" sz="800" b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Sierra y Selva.</a:t>
                      </a:r>
                      <a:endParaRPr lang="es-ES" sz="8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3175" cap="flat" cmpd="sng" algn="ctr">
                      <a:solidFill>
                        <a:srgbClr val="C00000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5408435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0134468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723D-8769-6827-2BF3-EEB466B3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99276F-06DB-CD0D-B815-ED045E6C178A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0F65100-AF20-0C00-4586-95F0636261B4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CCC5FD5-F1A6-A0D9-7D7B-78D243B2EDC9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A8F86C1-150C-09E3-6BA3-C4D99D0E3C91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CC82DA7-4103-CB3D-1AF4-655731604C1C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F39FEB-010D-5BD7-E1E6-C6B8F15A3980}"/>
              </a:ext>
            </a:extLst>
          </p:cNvPr>
          <p:cNvSpPr txBox="1"/>
          <p:nvPr/>
        </p:nvSpPr>
        <p:spPr>
          <a:xfrm>
            <a:off x="95250" y="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Algunos datos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42101D-14C1-6BFE-6DA1-1FA76F724994}"/>
              </a:ext>
            </a:extLst>
          </p:cNvPr>
          <p:cNvSpPr txBox="1"/>
          <p:nvPr/>
        </p:nvSpPr>
        <p:spPr>
          <a:xfrm>
            <a:off x="323850" y="633453"/>
            <a:ext cx="1676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Figura 1</a:t>
            </a:r>
          </a:p>
        </p:txBody>
      </p:sp>
      <p:pic>
        <p:nvPicPr>
          <p:cNvPr id="3" name="Picture 2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711195F-0A5B-0326-BDBB-319C51D785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4"/>
          <a:stretch>
            <a:fillRect/>
          </a:stretch>
        </p:blipFill>
        <p:spPr>
          <a:xfrm>
            <a:off x="145701" y="879353"/>
            <a:ext cx="2203641" cy="13074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546BAE-2F81-7EC8-FDF9-9E622A75B0C7}"/>
              </a:ext>
            </a:extLst>
          </p:cNvPr>
          <p:cNvSpPr txBox="1"/>
          <p:nvPr/>
        </p:nvSpPr>
        <p:spPr>
          <a:xfrm>
            <a:off x="400050" y="2208302"/>
            <a:ext cx="16850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900" b="1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s-PE" sz="400" b="0" dirty="0"/>
              <a:t>Fuente: El estrato empresarial es determinado de acuerdo con la ley N° 30056. Sunat, Registro Único del Contribuyente 2013-2017 - PRODUCE-OEE. Elaboración Propia</a:t>
            </a:r>
            <a:r>
              <a:rPr lang="es-ES" sz="400" b="0" dirty="0"/>
              <a:t>.</a:t>
            </a:r>
            <a:endParaRPr lang="es-PE" sz="400" b="0" dirty="0"/>
          </a:p>
        </p:txBody>
      </p:sp>
      <p:pic>
        <p:nvPicPr>
          <p:cNvPr id="9" name="Imagen 2">
            <a:extLst>
              <a:ext uri="{FF2B5EF4-FFF2-40B4-BE49-F238E27FC236}">
                <a16:creationId xmlns:a16="http://schemas.microsoft.com/office/drawing/2014/main" id="{A115A609-1240-30B6-BD0E-47EDDD3014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1" t="7787" r="5022" b="9218"/>
          <a:stretch>
            <a:fillRect/>
          </a:stretch>
        </p:blipFill>
        <p:spPr bwMode="auto">
          <a:xfrm>
            <a:off x="2305050" y="1361494"/>
            <a:ext cx="2208390" cy="148017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EAFD71-7BDD-D27D-7C97-47D94814FA39}"/>
              </a:ext>
            </a:extLst>
          </p:cNvPr>
          <p:cNvSpPr txBox="1"/>
          <p:nvPr/>
        </p:nvSpPr>
        <p:spPr>
          <a:xfrm>
            <a:off x="2532021" y="1005068"/>
            <a:ext cx="1676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9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Figura </a:t>
            </a:r>
            <a:r>
              <a:rPr lang="es-ES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s-ES" sz="900" b="1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9084775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87783-8AFE-A657-B21F-D3B07F3C1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28AFF3-A82D-35A4-1E84-E56CA744BAED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281D785-2644-A893-0541-C7687F604A80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1D126B2-827F-F4D3-4139-C8CD39E9E5D3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15A04D4-E1AE-47B0-B805-47A6DF1CFB1B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A061AA4C-C1FA-0416-2D7C-53A3138EB260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E2D421-8C9E-C40A-89DC-6F7ECB47D550}"/>
              </a:ext>
            </a:extLst>
          </p:cNvPr>
          <p:cNvSpPr txBox="1"/>
          <p:nvPr/>
        </p:nvSpPr>
        <p:spPr>
          <a:xfrm>
            <a:off x="95250" y="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Econométricos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1D6E7F-541D-5C38-04AB-3E26B6EC46B0}"/>
              </a:ext>
            </a:extLst>
          </p:cNvPr>
          <p:cNvSpPr txBox="1"/>
          <p:nvPr/>
        </p:nvSpPr>
        <p:spPr>
          <a:xfrm>
            <a:off x="1595409" y="475287"/>
            <a:ext cx="14173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1: </a:t>
            </a:r>
            <a:r>
              <a:rPr lang="es-PE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Ratios</a:t>
            </a:r>
            <a:endParaRPr lang="es-PE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n 1">
            <a:extLst>
              <a:ext uri="{FF2B5EF4-FFF2-40B4-BE49-F238E27FC236}">
                <a16:creationId xmlns:a16="http://schemas.microsoft.com/office/drawing/2014/main" id="{E60839AB-7D01-4EEA-BF72-BD8F5DE4393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556"/>
          <a:stretch>
            <a:fillRect/>
          </a:stretch>
        </p:blipFill>
        <p:spPr>
          <a:xfrm>
            <a:off x="372504" y="906862"/>
            <a:ext cx="3865091" cy="166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81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CBE4A-79EC-A18D-13D8-01A4E3F0B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5563037-EDC1-82A4-2FD7-60CFC8C38063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5697248-1C55-4969-4C5D-2AD000BECEB4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D90C8D1-C4B1-2F6B-9BC9-4299D32607F2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EA3B821-FCC4-B103-1E78-78197BFB2D43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34F13FC-AE2B-4706-F8A4-359714CC940A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5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B25661-6243-80D6-A9CD-5F038B752CA3}"/>
              </a:ext>
            </a:extLst>
          </p:cNvPr>
          <p:cNvSpPr txBox="1"/>
          <p:nvPr/>
        </p:nvSpPr>
        <p:spPr>
          <a:xfrm>
            <a:off x="95250" y="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Econométricos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1">
            <a:extLst>
              <a:ext uri="{FF2B5EF4-FFF2-40B4-BE49-F238E27FC236}">
                <a16:creationId xmlns:a16="http://schemas.microsoft.com/office/drawing/2014/main" id="{C074C84E-5B6A-F8BA-322A-5B1C5FE24C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058"/>
          <a:stretch>
            <a:fillRect/>
          </a:stretch>
        </p:blipFill>
        <p:spPr>
          <a:xfrm>
            <a:off x="855558" y="1388680"/>
            <a:ext cx="3046208" cy="17222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692DDB-3577-D93D-4041-642F187B8AB5}"/>
              </a:ext>
            </a:extLst>
          </p:cNvPr>
          <p:cNvSpPr txBox="1"/>
          <p:nvPr/>
        </p:nvSpPr>
        <p:spPr>
          <a:xfrm>
            <a:off x="1164227" y="457450"/>
            <a:ext cx="242887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2: </a:t>
            </a:r>
            <a:r>
              <a:rPr lang="es-PE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Odds Ratios. Otros resultados</a:t>
            </a:r>
            <a:endParaRPr lang="es-PE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n 1">
            <a:extLst>
              <a:ext uri="{FF2B5EF4-FFF2-40B4-BE49-F238E27FC236}">
                <a16:creationId xmlns:a16="http://schemas.microsoft.com/office/drawing/2014/main" id="{BDE43C3D-09F4-2AB1-904E-0A6ED60F25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261"/>
          <a:stretch>
            <a:fillRect/>
          </a:stretch>
        </p:blipFill>
        <p:spPr>
          <a:xfrm>
            <a:off x="857250" y="772627"/>
            <a:ext cx="3046208" cy="62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14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65ACA-8700-8171-3509-3B21145F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10AF6C-36D1-D4FB-9567-C107166CC044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24B369F-FF23-031B-B676-263C72FD48DE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B7D5CE2-8A18-05BA-5A72-44B9B92860D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E2632E6-6A50-C749-CA0A-757383F4421C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7B7E6319-DE57-3E5F-7938-D6F61AD06B37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6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10146-C57D-6AE2-66EB-2847088CCE43}"/>
              </a:ext>
            </a:extLst>
          </p:cNvPr>
          <p:cNvSpPr txBox="1"/>
          <p:nvPr/>
        </p:nvSpPr>
        <p:spPr>
          <a:xfrm>
            <a:off x="95250" y="0"/>
            <a:ext cx="297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Resultados Econométricos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963343-8FE5-82BD-3AD4-716E93B870F4}"/>
              </a:ext>
            </a:extLst>
          </p:cNvPr>
          <p:cNvSpPr txBox="1"/>
          <p:nvPr/>
        </p:nvSpPr>
        <p:spPr>
          <a:xfrm>
            <a:off x="537134" y="688050"/>
            <a:ext cx="35921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Tabla 3: </a:t>
            </a:r>
            <a:r>
              <a:rPr lang="es-PE" sz="1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Efectos marginales de formalización por región</a:t>
            </a:r>
            <a:endParaRPr lang="es-PE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n 1">
            <a:extLst>
              <a:ext uri="{FF2B5EF4-FFF2-40B4-BE49-F238E27FC236}">
                <a16:creationId xmlns:a16="http://schemas.microsoft.com/office/drawing/2014/main" id="{D6BB44DE-AAF8-646C-DF64-708476A697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857" y="1120775"/>
            <a:ext cx="3526660" cy="178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39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8C268-467A-598C-24B3-EA282353C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56A261-4556-CDD4-2A0B-3BB9C0A59872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A3D437B-DB67-B673-FDDC-CECD157F1973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EFA863-37B2-A3BA-F0D3-E3ACA39AEA0A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42353CC-D575-EC0F-3972-F939BE206509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6B70B8F0-AAB1-0372-DC0C-E5472575E4A5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9BD0DB-A2DB-A505-681D-87BF55365C6F}"/>
              </a:ext>
            </a:extLst>
          </p:cNvPr>
          <p:cNvSpPr txBox="1"/>
          <p:nvPr/>
        </p:nvSpPr>
        <p:spPr>
          <a:xfrm>
            <a:off x="95250" y="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Conclusiones y recomendaciones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366A9A37-655D-F164-E574-C6CB0409F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650" y="817629"/>
            <a:ext cx="4038600" cy="2144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PE" altLang="en-P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formalización no garantiza supervivencia</a:t>
            </a:r>
          </a:p>
          <a:p>
            <a:pPr marL="171450" indent="-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impacto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formalización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es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uniforme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Mientras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castiga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las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empresas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Costa y Selva,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Sierra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muestra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efecto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cuantitativamente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positivo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aunque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estadísticamente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débil</a:t>
            </a:r>
            <a:r>
              <a:rPr 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171450" indent="-1714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PE" altLang="en-P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Implementar estrategias de formalización diferenciadas por territorio para adaptarse a la realidad de cada región.</a:t>
            </a:r>
            <a:endParaRPr kumimoji="0" lang="en-PE" altLang="en-P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PE" altLang="en-PE" sz="9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Reorganización de la burocracia de manera </a:t>
            </a:r>
            <a:r>
              <a:rPr kumimoji="0" lang="en-PE" altLang="en-PE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que se reduzcan costos administrativos de acceso y mantenimiento del estatus de formalidad.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PE" altLang="en-PE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Ampliar incentivos fiscales a las micro y pequeñas empresas para aliviar los gastos operativos, mientras la empresa descubre su eficiencia y viabilidad.</a:t>
            </a:r>
            <a:endParaRPr kumimoji="0" lang="en-PE" altLang="en-PE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252163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B49E0-E635-711F-84E5-FFADBEBD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D73819-7742-D7B2-01E0-8A28999E192B}"/>
              </a:ext>
            </a:extLst>
          </p:cNvPr>
          <p:cNvSpPr txBox="1"/>
          <p:nvPr/>
        </p:nvSpPr>
        <p:spPr>
          <a:xfrm>
            <a:off x="3468865" y="345813"/>
            <a:ext cx="1044575" cy="1045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20" dirty="0">
                <a:solidFill>
                  <a:srgbClr val="FFFFFF"/>
                </a:solidFill>
                <a:latin typeface="Arial"/>
                <a:cs typeface="Arial"/>
              </a:rPr>
              <a:t>Facultad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Econom</a:t>
            </a:r>
            <a:r>
              <a:rPr lang="es-ES" sz="600" b="1" spc="-50" dirty="0">
                <a:solidFill>
                  <a:srgbClr val="FFFFFF"/>
                </a:solidFill>
                <a:latin typeface="Arial"/>
                <a:cs typeface="Arial"/>
              </a:rPr>
              <a:t>í</a:t>
            </a:r>
            <a:r>
              <a:rPr sz="600" b="1" spc="-5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600" b="1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UPC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139BB699-19A6-0580-4B82-E32BFD17BC25}"/>
              </a:ext>
            </a:extLst>
          </p:cNvPr>
          <p:cNvSpPr/>
          <p:nvPr/>
        </p:nvSpPr>
        <p:spPr>
          <a:xfrm>
            <a:off x="0" y="3329876"/>
            <a:ext cx="4608195" cy="126364"/>
          </a:xfrm>
          <a:custGeom>
            <a:avLst/>
            <a:gdLst/>
            <a:ahLst/>
            <a:cxnLst/>
            <a:rect l="l" t="t" r="r" b="b"/>
            <a:pathLst>
              <a:path w="4608195" h="126364">
                <a:moveTo>
                  <a:pt x="4608004" y="0"/>
                </a:moveTo>
                <a:lnTo>
                  <a:pt x="0" y="0"/>
                </a:lnTo>
                <a:lnTo>
                  <a:pt x="0" y="126123"/>
                </a:lnTo>
                <a:lnTo>
                  <a:pt x="4608004" y="126123"/>
                </a:lnTo>
                <a:lnTo>
                  <a:pt x="4608004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4F9C04F-BD71-B6C4-996A-64BA9F5965B6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xfrm>
            <a:off x="95300" y="3344944"/>
            <a:ext cx="69342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pc="25" dirty="0"/>
              <a:t>L, León </a:t>
            </a:r>
            <a:r>
              <a:rPr spc="-30" dirty="0"/>
              <a:t>(</a:t>
            </a:r>
            <a:r>
              <a:rPr lang="es-ES" spc="-30" dirty="0"/>
              <a:t>2025</a:t>
            </a:r>
            <a:r>
              <a:rPr spc="-30" dirty="0"/>
              <a:t>)</a:t>
            </a: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106831E-0E00-83F1-0C46-D59CDAEB3927}"/>
              </a:ext>
            </a:extLst>
          </p:cNvPr>
          <p:cNvSpPr txBox="1"/>
          <p:nvPr/>
        </p:nvSpPr>
        <p:spPr>
          <a:xfrm>
            <a:off x="1771650" y="3344944"/>
            <a:ext cx="19812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85"/>
              </a:lnSpc>
            </a:pPr>
            <a:r>
              <a:rPr lang="es-ES" sz="6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Arial" panose="020B0604020202020204" pitchFamily="34" charset="0"/>
              </a:rPr>
              <a:t>Factores que determinan la supervivencia de las empresas</a:t>
            </a:r>
            <a:endParaRPr lang="es-ES" sz="4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58557C8-3836-4F62-085E-00448D2A19C8}"/>
              </a:ext>
            </a:extLst>
          </p:cNvPr>
          <p:cNvSpPr txBox="1"/>
          <p:nvPr/>
        </p:nvSpPr>
        <p:spPr>
          <a:xfrm>
            <a:off x="4420498" y="3344944"/>
            <a:ext cx="118110" cy="1041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685"/>
              </a:lnSpc>
            </a:pPr>
            <a:fld id="{81D60167-4931-47E6-BA6A-407CBD079E47}" type="slidenum"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8</a:t>
            </a:fld>
            <a:endParaRPr sz="600">
              <a:latin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7F0FC-3B40-49B4-79C2-1BC904C4B39D}"/>
              </a:ext>
            </a:extLst>
          </p:cNvPr>
          <p:cNvSpPr txBox="1"/>
          <p:nvPr/>
        </p:nvSpPr>
        <p:spPr>
          <a:xfrm>
            <a:off x="1275397" y="1282212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Muchas Gracias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raphic 9" descr="Bar graph with upward trend with solid fill">
            <a:extLst>
              <a:ext uri="{FF2B5EF4-FFF2-40B4-BE49-F238E27FC236}">
                <a16:creationId xmlns:a16="http://schemas.microsoft.com/office/drawing/2014/main" id="{32C2C804-A150-6DF0-3D4F-B518AFD7B2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9773" y="1565830"/>
            <a:ext cx="610553" cy="610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516043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890</TotalTime>
  <Words>494</Words>
  <Application>Microsoft Macintosh PowerPoint</Application>
  <PresentationFormat>Custom</PresentationFormat>
  <Paragraphs>72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Tahoma</vt:lpstr>
      <vt:lpstr>Times New Roman</vt:lpstr>
      <vt:lpstr>Trebuchet MS</vt:lpstr>
      <vt:lpstr>Office Theme</vt:lpstr>
      <vt:lpstr>¿La formalidad garantiza supervivencia empresarial? Análisis de las MYPEs en el Perú en 2022.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Nombre Completo de la Presentación - Colocar el Subtitulo</dc:title>
  <dc:creator>Nombre Apellido1 Apellido2, correo-electronico@upc.edu.pe</dc:creator>
  <cp:lastModifiedBy>u20211d042 (Leon Perez, Leonardo Abel)</cp:lastModifiedBy>
  <cp:revision>15</cp:revision>
  <dcterms:created xsi:type="dcterms:W3CDTF">2024-04-01T15:20:09Z</dcterms:created>
  <dcterms:modified xsi:type="dcterms:W3CDTF">2025-12-08T17:26:22Z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2023-12-20T00:00:00Z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2024-04-01T00:00:00Z</vt:filetime>
  </property>
</Properties>
</file>
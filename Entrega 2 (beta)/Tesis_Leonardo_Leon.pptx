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68" r:id="rId3"/>
    <p:sldId id="269" r:id="rId4"/>
    <p:sldId id="270" r:id="rId5"/>
    <p:sldId id="271" r:id="rId6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9B8E11-DD23-4057-B2D3-14BA44F61F78}">
          <p14:sldIdLst>
            <p14:sldId id="256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719"/>
  </p:normalViewPr>
  <p:slideViewPr>
    <p:cSldViewPr>
      <p:cViewPr varScale="1">
        <p:scale>
          <a:sx n="300" d="100"/>
          <a:sy n="300" d="100"/>
        </p:scale>
        <p:origin x="1544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6B59C-73D5-41B0-81DE-B32EDCC5ECE9}" type="datetimeFigureOut">
              <a:rPr lang="en-US" smtClean="0"/>
              <a:t>5/19/25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50ABD-8A7F-439E-8FDB-96C63850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4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3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B807-E478-1053-892A-A003A6485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A1AE4-F850-20EE-165C-60FBBD1FC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E9225-8EBE-D716-CCF9-4A08B9A57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44506-38ED-9503-E70C-9BCE1AD9E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22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529AD-1684-3E8D-4243-7B26CCA7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ECFD0-6FD8-A27F-6053-DCDF9DB71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566D9-74A5-DD40-498E-D3F221B2A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829DB-8F32-56A3-9444-68960F2AE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60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24277" y="324510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44660" y="324114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22462" y="324114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287762" y="323479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24593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593440" y="324749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04539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80740" y="323479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60674" y="323479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84473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60674" y="327289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0607" y="323479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6527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3877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3479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92" y="25355"/>
            <a:ext cx="899952" cy="293288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0" y="34744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5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4887" y="912150"/>
            <a:ext cx="2800324" cy="507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6827" y="880070"/>
            <a:ext cx="4176445" cy="191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78744" y="3344944"/>
            <a:ext cx="160020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u20211d042@upc.edu.p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4887" y="912150"/>
            <a:ext cx="2800324" cy="73417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algn="ctr"/>
            <a:r>
              <a:rPr lang="es-ES" sz="11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MYPES EN EL PERÚ AL 2022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s-ES" sz="1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Trabajo de Investigación</a:t>
            </a:r>
            <a:endParaRPr lang="en-US" sz="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1023" y="1677148"/>
            <a:ext cx="1945005" cy="113543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03505" marR="94615" indent="-1270" algn="ctr">
              <a:lnSpc>
                <a:spcPct val="102600"/>
              </a:lnSpc>
              <a:spcBef>
                <a:spcPts val="55"/>
              </a:spcBef>
            </a:pPr>
            <a:r>
              <a:rPr lang="es-ES" sz="1100" spc="-50" dirty="0">
                <a:latin typeface="Trebuchet MS"/>
                <a:cs typeface="Trebuchet MS"/>
              </a:rPr>
              <a:t>Leonardo Abel León Pérez</a:t>
            </a:r>
            <a:r>
              <a:rPr sz="1100" spc="-40" dirty="0">
                <a:latin typeface="Trebuchet MS"/>
                <a:cs typeface="Trebuchet MS"/>
              </a:rPr>
              <a:t> </a:t>
            </a:r>
            <a:r>
              <a:rPr lang="es-ES" sz="1100" spc="-70" dirty="0">
                <a:latin typeface="Trebuchet MS"/>
                <a:cs typeface="Trebuchet MS"/>
                <a:hlinkClick r:id="rId2"/>
              </a:rPr>
              <a:t>u20211d042</a:t>
            </a:r>
            <a:r>
              <a:rPr sz="1100" spc="-70" dirty="0">
                <a:latin typeface="Trebuchet MS"/>
                <a:cs typeface="Trebuchet MS"/>
                <a:hlinkClick r:id="rId2"/>
              </a:rPr>
              <a:t>@upc.edu.pe</a:t>
            </a:r>
            <a:endParaRPr sz="11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 dirty="0">
              <a:latin typeface="Trebuchet MS"/>
              <a:cs typeface="Trebuchet MS"/>
            </a:endParaRPr>
          </a:p>
          <a:p>
            <a:pPr marL="12700" marR="5080" indent="461009">
              <a:lnSpc>
                <a:spcPts val="950"/>
              </a:lnSpc>
              <a:spcBef>
                <a:spcPts val="5"/>
              </a:spcBef>
            </a:pPr>
            <a:r>
              <a:rPr sz="800" spc="5" dirty="0">
                <a:latin typeface="Tahoma"/>
                <a:cs typeface="Tahoma"/>
              </a:rPr>
              <a:t>Facultad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-30" dirty="0">
                <a:latin typeface="Tahoma"/>
                <a:cs typeface="Tahoma"/>
              </a:rPr>
              <a:t>de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-45" dirty="0">
                <a:latin typeface="Tahoma"/>
                <a:cs typeface="Tahoma"/>
              </a:rPr>
              <a:t>Econom</a:t>
            </a:r>
            <a:r>
              <a:rPr lang="es-ES" sz="800" spc="-45" dirty="0">
                <a:latin typeface="Tahoma"/>
                <a:cs typeface="Tahoma"/>
              </a:rPr>
              <a:t>ía</a:t>
            </a:r>
            <a:r>
              <a:rPr sz="800" spc="-40" dirty="0">
                <a:latin typeface="Tahoma"/>
                <a:cs typeface="Tahoma"/>
              </a:rPr>
              <a:t> </a:t>
            </a:r>
            <a:r>
              <a:rPr sz="800" spc="-5" dirty="0">
                <a:latin typeface="Tahoma"/>
                <a:cs typeface="Tahoma"/>
              </a:rPr>
              <a:t>Universidad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-5" dirty="0">
                <a:latin typeface="Tahoma"/>
                <a:cs typeface="Tahoma"/>
              </a:rPr>
              <a:t>Peruana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-30" dirty="0">
                <a:latin typeface="Tahoma"/>
                <a:cs typeface="Tahoma"/>
              </a:rPr>
              <a:t>de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-5" dirty="0">
                <a:latin typeface="Tahoma"/>
                <a:cs typeface="Tahoma"/>
              </a:rPr>
              <a:t>Ciencias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5" dirty="0">
                <a:latin typeface="Tahoma"/>
                <a:cs typeface="Tahoma"/>
              </a:rPr>
              <a:t>Aplicadas</a:t>
            </a:r>
            <a:endParaRPr sz="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 dirty="0">
              <a:latin typeface="Tahoma"/>
              <a:cs typeface="Tahoma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lang="es-ES" sz="1100" spc="10" dirty="0"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FF260-E481-2AC9-E983-F468C6277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03D8B1-1342-9044-6136-070F0209B70D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9F46B56-F1D3-1AB3-6F3A-CF30AE5A3191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F4158CB-012D-FE9D-DCEC-24504BB9EF6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CF966C5-EE19-BB93-332F-BEEE74EC10F2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A1983C3-AF09-DC9C-2EBA-D3B433176EEB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548821-9EC7-EADE-A476-4C2894EDB795}"/>
              </a:ext>
            </a:extLst>
          </p:cNvPr>
          <p:cNvSpPr txBox="1"/>
          <p:nvPr/>
        </p:nvSpPr>
        <p:spPr>
          <a:xfrm>
            <a:off x="95250" y="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245CD0-2D6A-6E7A-97AD-260B5F444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218701"/>
              </p:ext>
            </p:extLst>
          </p:nvPr>
        </p:nvGraphicFramePr>
        <p:xfrm>
          <a:off x="442010" y="684157"/>
          <a:ext cx="3810000" cy="20853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05887">
                  <a:extLst>
                    <a:ext uri="{9D8B030D-6E8A-4147-A177-3AD203B41FA5}">
                      <a16:colId xmlns:a16="http://schemas.microsoft.com/office/drawing/2014/main" val="2113563625"/>
                    </a:ext>
                  </a:extLst>
                </a:gridCol>
                <a:gridCol w="2904113">
                  <a:extLst>
                    <a:ext uri="{9D8B030D-6E8A-4147-A177-3AD203B41FA5}">
                      <a16:colId xmlns:a16="http://schemas.microsoft.com/office/drawing/2014/main" val="336165084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Aspecto</a:t>
                      </a:r>
                      <a:endParaRPr lang="en-US" sz="105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Descripción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8400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Justificación</a:t>
                      </a:r>
                      <a:endParaRPr lang="en-US" sz="1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 </a:t>
                      </a:r>
                      <a:r>
                        <a:rPr lang="es-E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MYPEs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(&gt;70% del tejido empresarial) enfrentan alta mortalidad (70% cierran en 2 años, MTPE, 2024). Estudiar formalidad y digitalización es clave para su sostenibilidad y el ODS 8.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7199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/>
                      <a:r>
                        <a:rPr lang="es-ES" sz="1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Problema</a:t>
                      </a:r>
                      <a:endParaRPr lang="en-US" sz="1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¿Qué factores determinaron la supervivencia de las </a:t>
                      </a:r>
                      <a:r>
                        <a:rPr lang="es-E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MYPEs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 Perú durante el 2021, y </a:t>
                      </a:r>
                      <a:r>
                        <a:rPr lang="es-ES" sz="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cómo varió 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 región?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74674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/>
                      <a:r>
                        <a:rPr lang="es-ES" sz="1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Objetivo general</a:t>
                      </a:r>
                      <a:endParaRPr lang="en-US" sz="1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Analizar el impacto de la formalidad (RUC) y digitalización en la supervivencia de las </a:t>
                      </a:r>
                      <a:r>
                        <a:rPr lang="es-E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MYPEs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 2021.</a:t>
                      </a:r>
                      <a:endParaRPr lang="en-US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52907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/>
                      <a:r>
                        <a:rPr lang="es-ES" sz="1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Hipótesis</a:t>
                      </a:r>
                      <a:endParaRPr lang="en-US" sz="1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375"/>
                        </a:spcBef>
                        <a:spcAft>
                          <a:spcPts val="375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MYPEs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formales y digitalizadas tienen mayor probabilidad de supervivencia, con efectos regionales distintos.</a:t>
                      </a:r>
                    </a:p>
                  </a:txBody>
                  <a:tcPr marL="95250" marR="95250" marT="95250" marB="95250" anchor="ctr"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40843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134468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1085B-67EE-6E68-C08D-A9A2B3AC8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1DB9A91-D6D7-D0DC-AB85-ED024D0A4E05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1E2E96A-F233-FE0C-3198-A4D3731C1181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5A1ED78-4F7F-6645-19D1-94501DD3E04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224CC9E-752C-51FB-2808-887CC28E2DAF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B39D943-6098-921C-3EDE-B903EF58213B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381A05-97AD-34B2-927C-373E1538EBC1}"/>
              </a:ext>
            </a:extLst>
          </p:cNvPr>
          <p:cNvSpPr txBox="1"/>
          <p:nvPr/>
        </p:nvSpPr>
        <p:spPr>
          <a:xfrm>
            <a:off x="95250" y="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Estudios previos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4CA82F-5356-5B05-ED23-E569A9D9D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493822"/>
              </p:ext>
            </p:extLst>
          </p:nvPr>
        </p:nvGraphicFramePr>
        <p:xfrm>
          <a:off x="158432" y="553554"/>
          <a:ext cx="4291330" cy="26670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51218">
                  <a:extLst>
                    <a:ext uri="{9D8B030D-6E8A-4147-A177-3AD203B41FA5}">
                      <a16:colId xmlns:a16="http://schemas.microsoft.com/office/drawing/2014/main" val="1445430156"/>
                    </a:ext>
                  </a:extLst>
                </a:gridCol>
                <a:gridCol w="2120582">
                  <a:extLst>
                    <a:ext uri="{9D8B030D-6E8A-4147-A177-3AD203B41FA5}">
                      <a16:colId xmlns:a16="http://schemas.microsoft.com/office/drawing/2014/main" val="621554607"/>
                    </a:ext>
                  </a:extLst>
                </a:gridCol>
                <a:gridCol w="1319530">
                  <a:extLst>
                    <a:ext uri="{9D8B030D-6E8A-4147-A177-3AD203B41FA5}">
                      <a16:colId xmlns:a16="http://schemas.microsoft.com/office/drawing/2014/main" val="308914285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algn="ctr"/>
                      <a:r>
                        <a:rPr lang="en-US" sz="900" b="1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Aspecto</a:t>
                      </a:r>
                      <a:endParaRPr 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Estudios a Favor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Estudios en Contra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50809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algn="ctr"/>
                      <a:r>
                        <a:rPr lang="en-US" sz="8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Formalización</a:t>
                      </a:r>
                      <a:endParaRPr lang="en-US" sz="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0488" indent="-90488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Chacaltana (2016): RUC mejora mercados, financiamiento, productividad.</a:t>
                      </a:r>
                    </a:p>
                    <a:p>
                      <a:pPr marL="90488" indent="-90488" algn="just">
                        <a:buFont typeface="Arial" panose="020B0604020202020204" pitchFamily="34" charset="0"/>
                        <a:buChar char="•"/>
                      </a:pPr>
                      <a:endParaRPr lang="es-ES" sz="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90488" indent="-90488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Yamada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(2009): Formalidad reduce cierre 15% (</a:t>
                      </a:r>
                      <a:r>
                        <a:rPr lang="es-E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hazard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ratio=0.85).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just"/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Díaz et al. (2018): 20% </a:t>
                      </a:r>
                      <a:r>
                        <a:rPr lang="es-E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MYPEs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jóvenes </a:t>
                      </a:r>
                      <a:r>
                        <a:rPr lang="es-E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desformalizan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por costos regulatorios.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7605599"/>
                  </a:ext>
                </a:extLst>
              </a:tr>
              <a:tr h="482344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Digitalización</a:t>
                      </a:r>
                      <a:endParaRPr lang="en-US" sz="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0488" indent="-90488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Solomon et al. (2024): Redes sociales elevan ventas 2.89x (</a:t>
                      </a:r>
                      <a:r>
                        <a:rPr lang="es-E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odds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ratio=2.89).</a:t>
                      </a:r>
                    </a:p>
                    <a:p>
                      <a:pPr marL="90488" indent="-90488" algn="just">
                        <a:buFont typeface="Arial" panose="020B0604020202020204" pitchFamily="34" charset="0"/>
                        <a:buChar char="•"/>
                      </a:pPr>
                      <a:endParaRPr lang="es-ES" sz="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90488" indent="-90488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León &amp; Valcárcel (2022): Internet aumenta ganancias 23.1%.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just"/>
                      <a:r>
                        <a:rPr lang="es-E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Afan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 (2025): Baja educación de gerentes limita digitalización.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11762058"/>
                  </a:ext>
                </a:extLst>
              </a:tr>
              <a:tr h="474724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Diferencias Regionales</a:t>
                      </a: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0488" indent="-90488">
                        <a:buFont typeface="Arial" panose="020B0604020202020204" pitchFamily="34" charset="0"/>
                        <a:buChar char="•"/>
                      </a:pPr>
                      <a:r>
                        <a:rPr lang="es-E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Liedholm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(2002): Costa (urbanas) sobrevive 25% más por recursos.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s-ES" sz="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90488" indent="-90488">
                        <a:buFont typeface="Arial" panose="020B0604020202020204" pitchFamily="34" charset="0"/>
                        <a:buChar char="•"/>
                      </a:pPr>
                      <a:r>
                        <a:rPr lang="es-E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Craioveanu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s-E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Terrell</a:t>
                      </a: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(2016): Sierra/Selva más resilientes en crisis.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Parra (2011): Costa (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alta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densidad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eleva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cierre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1.4-1.7%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competencia.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78375002"/>
                  </a:ext>
                </a:extLst>
              </a:tr>
              <a:tr h="292901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Paper Base</a:t>
                      </a: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/>
                      <a:r>
                        <a:rPr lang="es-ES" sz="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Parra (2011): Usa </a:t>
                      </a:r>
                      <a:r>
                        <a:rPr lang="es-ES" sz="8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Jovanovic</a:t>
                      </a:r>
                      <a:r>
                        <a:rPr lang="es-ES" sz="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(1982) para estudiar cierre en Bogotá, ligando eficiencia a formalidad, tamaño, competencia.</a:t>
                      </a:r>
                      <a:endParaRPr lang="en-US" sz="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438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398442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1723D-8769-6827-2BF3-EEB466B3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99276F-06DB-CD0D-B815-ED045E6C178A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0F65100-AF20-0C00-4586-95F0636261B4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CCC5FD5-F1A6-A0D9-7D7B-78D243B2EDC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A8F86C1-150C-09E3-6BA3-C4D99D0E3C91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CC82DA7-4103-CB3D-1AF4-655731604C1C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39FEB-010D-5BD7-E1E6-C6B8F15A3980}"/>
              </a:ext>
            </a:extLst>
          </p:cNvPr>
          <p:cNvSpPr txBox="1"/>
          <p:nvPr/>
        </p:nvSpPr>
        <p:spPr>
          <a:xfrm>
            <a:off x="95250" y="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Hechos Estilizados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8C2236-6164-B5FC-DF14-A3496EFB93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75" b="3586"/>
          <a:stretch/>
        </p:blipFill>
        <p:spPr>
          <a:xfrm>
            <a:off x="1136357" y="657015"/>
            <a:ext cx="2511568" cy="12438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BA9DA1-1E83-685C-59F4-C7C8B59B40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98" b="5350"/>
          <a:stretch/>
        </p:blipFill>
        <p:spPr>
          <a:xfrm>
            <a:off x="1008378" y="2033949"/>
            <a:ext cx="2551503" cy="12408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242101D-14C1-6BFE-6DA1-1FA76F724994}"/>
              </a:ext>
            </a:extLst>
          </p:cNvPr>
          <p:cNvSpPr txBox="1"/>
          <p:nvPr/>
        </p:nvSpPr>
        <p:spPr>
          <a:xfrm>
            <a:off x="1553941" y="478973"/>
            <a:ext cx="16764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Figura 1: Evolución de </a:t>
            </a:r>
            <a:r>
              <a:rPr lang="es-ES" sz="500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MYPEs</a:t>
            </a:r>
            <a:r>
              <a:rPr lang="es-ES" sz="5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Formales (2014-2021)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DEAADC-F506-999F-2A06-AAF001730254}"/>
              </a:ext>
            </a:extLst>
          </p:cNvPr>
          <p:cNvSpPr txBox="1"/>
          <p:nvPr/>
        </p:nvSpPr>
        <p:spPr>
          <a:xfrm>
            <a:off x="1515841" y="1909605"/>
            <a:ext cx="17526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Figura 9: Acceso a Internet y Telefonía Móvil (2010-2020)</a:t>
            </a:r>
          </a:p>
        </p:txBody>
      </p:sp>
    </p:spTree>
    <p:extLst>
      <p:ext uri="{BB962C8B-B14F-4D97-AF65-F5344CB8AC3E}">
        <p14:creationId xmlns:p14="http://schemas.microsoft.com/office/powerpoint/2010/main" val="3359084775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7F2A5-5280-0B14-BE65-72E14E66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B44E13-35BA-5438-53A7-5B322E03098D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5D58FC5-9576-CF1F-9F7E-5DDD15F07C2D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FE87A68-E5AF-F491-06C1-BECEEF83692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93962F5-0966-A072-04BA-75072D010239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BC2D177-0894-A10C-29EC-335C4E3B8F3F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5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2EDB44-2A11-ACA5-86DA-EDB312730F10}"/>
              </a:ext>
            </a:extLst>
          </p:cNvPr>
          <p:cNvSpPr txBox="1"/>
          <p:nvPr/>
        </p:nvSpPr>
        <p:spPr>
          <a:xfrm>
            <a:off x="95250" y="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Hechos Estilizados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5911C09-E01D-90B8-630F-A1D8D3804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772638"/>
              </p:ext>
            </p:extLst>
          </p:nvPr>
        </p:nvGraphicFramePr>
        <p:xfrm>
          <a:off x="469741" y="626146"/>
          <a:ext cx="3670618" cy="239602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99453">
                  <a:extLst>
                    <a:ext uri="{9D8B030D-6E8A-4147-A177-3AD203B41FA5}">
                      <a16:colId xmlns:a16="http://schemas.microsoft.com/office/drawing/2014/main" val="1445430156"/>
                    </a:ext>
                  </a:extLst>
                </a:gridCol>
                <a:gridCol w="2571165">
                  <a:extLst>
                    <a:ext uri="{9D8B030D-6E8A-4147-A177-3AD203B41FA5}">
                      <a16:colId xmlns:a16="http://schemas.microsoft.com/office/drawing/2014/main" val="621554607"/>
                    </a:ext>
                  </a:extLst>
                </a:gridCol>
              </a:tblGrid>
              <a:tr h="265363">
                <a:tc>
                  <a:txBody>
                    <a:bodyPr/>
                    <a:lstStyle/>
                    <a:p>
                      <a:pPr marL="0" algn="ctr"/>
                      <a:r>
                        <a:rPr lang="en-US" sz="900" b="1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Aspecto</a:t>
                      </a:r>
                      <a:endParaRPr 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s-ES" sz="9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900" b="1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escripción</a:t>
                      </a:r>
                      <a:endParaRPr 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508093"/>
                  </a:ext>
                </a:extLst>
              </a:tr>
              <a:tr h="481531">
                <a:tc>
                  <a:txBody>
                    <a:bodyPr/>
                    <a:lstStyle/>
                    <a:p>
                      <a:pPr marL="0" algn="ctr"/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Fuente de Datos</a:t>
                      </a: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 Censo Nacional Económico 2022 (INEI)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7605599"/>
                  </a:ext>
                </a:extLst>
              </a:tr>
              <a:tr h="389199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Variable </a:t>
                      </a:r>
                      <a:r>
                        <a:rPr lang="en-US" sz="8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Dependiente</a:t>
                      </a:r>
                      <a:endParaRPr lang="en-US" sz="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empresarial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11762058"/>
                  </a:ext>
                </a:extLst>
              </a:tr>
              <a:tr h="389199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Variables </a:t>
                      </a:r>
                      <a:r>
                        <a:rPr lang="en-US" sz="8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Independientes</a:t>
                      </a:r>
                      <a:endParaRPr lang="en-US" sz="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Formalidad: RUC (binaria)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E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Digitalización: Digital Score (0-3)</a:t>
                      </a:r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78375002"/>
                  </a:ext>
                </a:extLst>
              </a:tr>
              <a:tr h="530725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Controles</a:t>
                      </a:r>
                      <a:endParaRPr lang="en-US" sz="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ES" sz="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Región, sector, tamaño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ES" sz="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Sexo gerente, tipo local, régimen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ES" sz="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Ventas, productividad, tributos, salarios</a:t>
                      </a:r>
                      <a:endParaRPr lang="en-US" sz="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01438557"/>
                  </a:ext>
                </a:extLst>
              </a:tr>
              <a:tr h="340004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Modelo</a:t>
                      </a:r>
                      <a:endParaRPr lang="en-US" sz="8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8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Regresión</a:t>
                      </a:r>
                      <a:r>
                        <a:rPr lang="en-US" sz="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logística</a:t>
                      </a:r>
                      <a:endParaRPr lang="en-US" sz="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21799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58183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Words>506</Words>
  <Application>Microsoft Macintosh PowerPoint</Application>
  <PresentationFormat>Custom</PresentationFormat>
  <Paragraphs>80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Tahoma</vt:lpstr>
      <vt:lpstr>Times New Roman</vt:lpstr>
      <vt:lpstr>Trebuchet MS</vt:lpstr>
      <vt:lpstr>Office Theme</vt:lpstr>
      <vt:lpstr>FACTORES QUE DETERMINAN LA SUPERVIVENCIA DE LAS MYPES EN EL PERÚ AL 2022 Trabajo de Investigación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Completo de la Presentación - Colocar el Subtitulo</dc:title>
  <dc:creator>Nombre Apellido1 Apellido2, correo-electronico@upc.edu.pe</dc:creator>
  <cp:lastModifiedBy>u20211d042 (Leon Perez, Leonardo Abel)</cp:lastModifiedBy>
  <cp:revision>4</cp:revision>
  <dcterms:created xsi:type="dcterms:W3CDTF">2024-04-01T15:20:09Z</dcterms:created>
  <dcterms:modified xsi:type="dcterms:W3CDTF">2025-05-19T14:45:14Z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2023-12-20T00:00:00Z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2024-04-01T00:00:00Z</vt:filetime>
  </property>
</Properties>
</file>